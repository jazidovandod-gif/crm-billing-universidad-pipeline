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image" Target="../media/image-4-19.png"/><Relationship Id="rId20" Type="http://schemas.openxmlformats.org/officeDocument/2006/relationships/image" Target="../media/image-4-20.svg"/><Relationship Id="rId21" Type="http://schemas.openxmlformats.org/officeDocument/2006/relationships/image" Target="../media/image-4-21.png"/><Relationship Id="rId22" Type="http://schemas.openxmlformats.org/officeDocument/2006/relationships/image" Target="../media/image-4-22.svg"/><Relationship Id="rId23" Type="http://schemas.openxmlformats.org/officeDocument/2006/relationships/image" Target="../media/image-4-23.png"/><Relationship Id="rId24" Type="http://schemas.openxmlformats.org/officeDocument/2006/relationships/image" Target="../media/image-4-24.svg"/><Relationship Id="rId25" Type="http://schemas.openxmlformats.org/officeDocument/2006/relationships/image" Target="../media/image-4-25.png"/><Relationship Id="rId26" Type="http://schemas.openxmlformats.org/officeDocument/2006/relationships/image" Target="../media/image-4-26.svg"/><Relationship Id="rId27" Type="http://schemas.openxmlformats.org/officeDocument/2006/relationships/image" Target="../media/image-4-27.png"/><Relationship Id="rId28" Type="http://schemas.openxmlformats.org/officeDocument/2006/relationships/image" Target="../media/image-4-28.svg"/><Relationship Id="rId29" Type="http://schemas.openxmlformats.org/officeDocument/2006/relationships/image" Target="../media/image-4-29.png"/><Relationship Id="rId30" Type="http://schemas.openxmlformats.org/officeDocument/2006/relationships/image" Target="../media/image-4-30.sv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0500" y="-2476500"/>
            <a:ext cx="8572500" cy="8572500"/>
          </a:xfrm>
          <a:prstGeom prst="ellipse">
            <a:avLst/>
          </a:prstGeom>
          <a:gradFill rotWithShape="1">
            <a:gsLst>
              <a:gs pos="0">
                <a:srgbClr val="00C2F5">
                  <a:alpha val="35000"/>
                </a:srgbClr>
              </a:gs>
              <a:gs pos="70000">
                <a:srgbClr val="00C2F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1714500" y="6667500"/>
            <a:ext cx="6667500" cy="6667500"/>
          </a:xfrm>
          <a:prstGeom prst="ellipse">
            <a:avLst/>
          </a:prstGeom>
          <a:gradFill rotWithShape="1">
            <a:gsLst>
              <a:gs pos="0">
                <a:srgbClr val="FFD200">
                  <a:alpha val="14000"/>
                </a:srgbClr>
              </a:gs>
              <a:gs pos="70000">
                <a:srgbClr val="FFD2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1333500" y="2355652"/>
            <a:ext cx="95250" cy="95250"/>
          </a:xfrm>
          <a:prstGeom prst="ellipse">
            <a:avLst/>
          </a:prstGeom>
          <a:solidFill>
            <a:srgbClr val="00C2F5"/>
          </a:solidFill>
          <a:ln/>
        </p:spPr>
      </p:sp>
      <p:sp>
        <p:nvSpPr>
          <p:cNvPr id="5" name="Text 3"/>
          <p:cNvSpPr/>
          <p:nvPr/>
        </p:nvSpPr>
        <p:spPr>
          <a:xfrm>
            <a:off x="1543050" y="2255639"/>
            <a:ext cx="846401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0C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DE SELECCIÓN · INGENIEROS DE DATOS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2970014"/>
            <a:ext cx="14716125" cy="2118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800" b="1" spc="-15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Engineering Bootcamp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1333500" y="5431036"/>
            <a:ext cx="1157668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días para construir un proyecto real de ingeniería de datos, de principio a fin.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333500" y="7164586"/>
            <a:ext cx="259367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D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días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333500" y="7697986"/>
            <a:ext cx="259367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Duración del desafío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00984" y="7164586"/>
            <a:ext cx="9525" cy="86677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920109" y="7164586"/>
            <a:ext cx="2780303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D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proyecto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4920109" y="7697986"/>
            <a:ext cx="278030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extremo a extremo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057257" y="7164586"/>
            <a:ext cx="9525" cy="86677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676382" y="7164586"/>
            <a:ext cx="246597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D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capas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8676382" y="7697986"/>
            <a:ext cx="246597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· Silver · Gold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00A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DEL DESAFÍO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09700"/>
            <a:ext cx="157162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500" b="1" spc="-90" kern="0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proyecto completo, en un escenario real de negocio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2371725"/>
            <a:ext cx="12753975" cy="1500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400" dirty="0">
                <a:solidFill>
                  <a:srgbClr val="2A3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Buscamos observar cómo cada participante aborda un problema de datos de principio a fin: qué decisiones toma, cómo las justifica y qué criterio profesional aplica al transformar datos en información útil para el negocio.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52500" y="7124700"/>
            <a:ext cx="5257800" cy="2400300"/>
          </a:xfrm>
          <a:prstGeom prst="roundRect">
            <a:avLst>
              <a:gd name="adj" fmla="val 6349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52400" dist="38100" dir="5400000">
              <a:srgbClr val="001E62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33500" y="746760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001E6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57325" y="7591425"/>
            <a:ext cx="247650" cy="2476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33500" y="8153400"/>
            <a:ext cx="49453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una respuesta única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333500" y="8553450"/>
            <a:ext cx="463067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Evaluamos el proceso de pensamiento, no una fórmula correcta.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515100" y="7124700"/>
            <a:ext cx="5257800" cy="2400300"/>
          </a:xfrm>
          <a:prstGeom prst="roundRect">
            <a:avLst>
              <a:gd name="adj" fmla="val 6349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52400" dist="38100" dir="5400000">
              <a:srgbClr val="001E62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96100" y="746760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001E6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19925" y="7591425"/>
            <a:ext cx="247650" cy="2476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96100" y="8153400"/>
            <a:ext cx="49453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vida completo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6896100" y="8553450"/>
            <a:ext cx="463067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ingestión de datos hasta la generación de insights.</a:t>
            </a:r>
            <a:endParaRPr lang="en-US" sz="1650" dirty="0"/>
          </a:p>
        </p:txBody>
      </p:sp>
      <p:sp>
        <p:nvSpPr>
          <p:cNvPr id="15" name="Shape 11"/>
          <p:cNvSpPr/>
          <p:nvPr/>
        </p:nvSpPr>
        <p:spPr>
          <a:xfrm>
            <a:off x="12077700" y="7124700"/>
            <a:ext cx="5257800" cy="2400300"/>
          </a:xfrm>
          <a:prstGeom prst="roundRect">
            <a:avLst>
              <a:gd name="adj" fmla="val 6349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52400" dist="38100" dir="5400000">
              <a:srgbClr val="001E62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2458700" y="746760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001E6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82525" y="7591425"/>
            <a:ext cx="247650" cy="2476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458700" y="8153400"/>
            <a:ext cx="49453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técnico</a:t>
            </a:r>
            <a:endParaRPr lang="en-US" sz="2100" dirty="0"/>
          </a:p>
        </p:txBody>
      </p:sp>
      <p:sp>
        <p:nvSpPr>
          <p:cNvPr id="19" name="Text 14"/>
          <p:cNvSpPr/>
          <p:nvPr/>
        </p:nvSpPr>
        <p:spPr>
          <a:xfrm>
            <a:off x="12458700" y="8553450"/>
            <a:ext cx="463067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justifican las decisiones de ingeniería, no solo el resultado.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00A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TÉCNICO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09700"/>
            <a:ext cx="1802130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84" kern="0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Tecnologías utilizadas durante el bootcamp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2562225"/>
            <a:ext cx="3063180" cy="1590675"/>
          </a:xfrm>
          <a:prstGeom prst="roundRect">
            <a:avLst>
              <a:gd name="adj" fmla="val 9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1E62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74540" y="2905125"/>
            <a:ext cx="419100" cy="419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17080" y="3495675"/>
            <a:ext cx="81007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4282380" y="2562225"/>
            <a:ext cx="3063180" cy="1590675"/>
          </a:xfrm>
          <a:prstGeom prst="roundRect">
            <a:avLst>
              <a:gd name="adj" fmla="val 9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1E62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04421" y="2905125"/>
            <a:ext cx="419100" cy="4191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21635" y="3495675"/>
            <a:ext cx="126087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7612261" y="2562225"/>
            <a:ext cx="3063329" cy="1590675"/>
          </a:xfrm>
          <a:prstGeom prst="roundRect">
            <a:avLst>
              <a:gd name="adj" fmla="val 9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1E62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34301" y="2905125"/>
            <a:ext cx="419100" cy="4191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49407" y="3495675"/>
            <a:ext cx="174794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Airflow</a:t>
            </a:r>
            <a:endParaRPr lang="en-US" sz="1650" dirty="0"/>
          </a:p>
        </p:txBody>
      </p:sp>
      <p:sp>
        <p:nvSpPr>
          <p:cNvPr id="13" name="Shape 8"/>
          <p:cNvSpPr/>
          <p:nvPr/>
        </p:nvSpPr>
        <p:spPr>
          <a:xfrm>
            <a:off x="10942290" y="2562225"/>
            <a:ext cx="3063180" cy="1590675"/>
          </a:xfrm>
          <a:prstGeom prst="roundRect">
            <a:avLst>
              <a:gd name="adj" fmla="val 9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1E62">
                <a:alpha val="8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264330" y="2905125"/>
            <a:ext cx="419100" cy="4191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108656" y="3495675"/>
            <a:ext cx="8065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650" dirty="0"/>
          </a:p>
        </p:txBody>
      </p:sp>
      <p:sp>
        <p:nvSpPr>
          <p:cNvPr id="16" name="Shape 10"/>
          <p:cNvSpPr/>
          <p:nvPr/>
        </p:nvSpPr>
        <p:spPr>
          <a:xfrm>
            <a:off x="14272171" y="2562225"/>
            <a:ext cx="3063329" cy="1590675"/>
          </a:xfrm>
          <a:prstGeom prst="roundRect">
            <a:avLst>
              <a:gd name="adj" fmla="val 9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1E62">
                <a:alpha val="8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594211" y="2905125"/>
            <a:ext cx="419100" cy="4191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864804" y="3495675"/>
            <a:ext cx="206586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Jupyter Notebook</a:t>
            </a:r>
            <a:endParaRPr lang="en-US" sz="1650" dirty="0"/>
          </a:p>
        </p:txBody>
      </p:sp>
      <p:sp>
        <p:nvSpPr>
          <p:cNvPr id="19" name="Shape 12"/>
          <p:cNvSpPr/>
          <p:nvPr/>
        </p:nvSpPr>
        <p:spPr>
          <a:xfrm>
            <a:off x="952500" y="4419600"/>
            <a:ext cx="3063180" cy="1590675"/>
          </a:xfrm>
          <a:prstGeom prst="roundRect">
            <a:avLst>
              <a:gd name="adj" fmla="val 9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1E62">
                <a:alpha val="8000"/>
              </a:srgbClr>
            </a:outerShdw>
          </a:effectLst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74540" y="4762500"/>
            <a:ext cx="419100" cy="4191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2291804" y="5353050"/>
            <a:ext cx="46077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1650" dirty="0"/>
          </a:p>
        </p:txBody>
      </p:sp>
      <p:sp>
        <p:nvSpPr>
          <p:cNvPr id="22" name="Shape 14"/>
          <p:cNvSpPr/>
          <p:nvPr/>
        </p:nvSpPr>
        <p:spPr>
          <a:xfrm>
            <a:off x="4282380" y="4419600"/>
            <a:ext cx="3063180" cy="1590675"/>
          </a:xfrm>
          <a:prstGeom prst="roundRect">
            <a:avLst>
              <a:gd name="adj" fmla="val 9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1E62">
                <a:alpha val="8000"/>
              </a:srgbClr>
            </a:outerShdw>
          </a:effectLst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604421" y="4762500"/>
            <a:ext cx="419100" cy="4191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596979" y="5353050"/>
            <a:ext cx="51018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</a:t>
            </a:r>
            <a:endParaRPr lang="en-US" sz="1650" dirty="0"/>
          </a:p>
        </p:txBody>
      </p:sp>
      <p:sp>
        <p:nvSpPr>
          <p:cNvPr id="25" name="Shape 16"/>
          <p:cNvSpPr/>
          <p:nvPr/>
        </p:nvSpPr>
        <p:spPr>
          <a:xfrm>
            <a:off x="7612261" y="4419600"/>
            <a:ext cx="3063329" cy="1590675"/>
          </a:xfrm>
          <a:prstGeom prst="roundRect">
            <a:avLst>
              <a:gd name="adj" fmla="val 9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1E62">
                <a:alpha val="8000"/>
              </a:srgbClr>
            </a:outerShdw>
          </a:effectLst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934301" y="4762500"/>
            <a:ext cx="419100" cy="4191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8727579" y="5353050"/>
            <a:ext cx="90874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Parquet</a:t>
            </a:r>
            <a:endParaRPr lang="en-US" sz="1650" dirty="0"/>
          </a:p>
        </p:txBody>
      </p:sp>
      <p:sp>
        <p:nvSpPr>
          <p:cNvPr id="28" name="Shape 18"/>
          <p:cNvSpPr/>
          <p:nvPr/>
        </p:nvSpPr>
        <p:spPr>
          <a:xfrm>
            <a:off x="10942290" y="4419600"/>
            <a:ext cx="3063180" cy="1590675"/>
          </a:xfrm>
          <a:prstGeom prst="roundRect">
            <a:avLst>
              <a:gd name="adj" fmla="val 9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1E62">
                <a:alpha val="8000"/>
              </a:srgbClr>
            </a:outerShdw>
          </a:effectLst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264330" y="4762500"/>
            <a:ext cx="419100" cy="41910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12326243" y="5353050"/>
            <a:ext cx="3714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00A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PROYECTO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09700"/>
            <a:ext cx="1802130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84" kern="0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recorrido completo por el ciclo de vida del dato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52500" y="2143125"/>
            <a:ext cx="137350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la ingestión de archivos crudos hasta la generación de información accionable para el negocio.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307306" y="5881688"/>
            <a:ext cx="838200" cy="838200"/>
          </a:xfrm>
          <a:prstGeom prst="roundRect">
            <a:avLst>
              <a:gd name="adj" fmla="val 18182"/>
            </a:avLst>
          </a:prstGeom>
          <a:solidFill>
            <a:srgbClr val="5B6478"/>
          </a:solidFill>
          <a:ln/>
          <a:effectLst>
            <a:outerShdw sx="100000" sy="100000" kx="0" ky="0" algn="bl" rotWithShape="0" blurRad="152400" dist="38100" dir="5400000">
              <a:srgbClr val="001E62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45431" y="6119813"/>
            <a:ext cx="361950" cy="3619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10903" y="6872288"/>
            <a:ext cx="50720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</a:t>
            </a:r>
            <a:endParaRPr lang="en-US" sz="16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38413" y="6405563"/>
            <a:ext cx="495300" cy="1905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26619" y="5881688"/>
            <a:ext cx="838200" cy="838200"/>
          </a:xfrm>
          <a:prstGeom prst="roundRect">
            <a:avLst>
              <a:gd name="adj" fmla="val 18182"/>
            </a:avLst>
          </a:prstGeom>
          <a:solidFill>
            <a:srgbClr val="00C2F5"/>
          </a:solidFill>
          <a:ln/>
          <a:effectLst>
            <a:outerShdw sx="100000" sy="100000" kx="0" ky="0" algn="bl" rotWithShape="0" blurRad="152400" dist="38100" dir="5400000">
              <a:srgbClr val="001E62">
                <a:alpha val="12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4744" y="6119813"/>
            <a:ext cx="361950" cy="3619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531245" y="6872288"/>
            <a:ext cx="70499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Airflow</a:t>
            </a:r>
            <a:endParaRPr lang="en-US" sz="16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57725" y="6405563"/>
            <a:ext cx="495300" cy="1905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5545931" y="5881688"/>
            <a:ext cx="838200" cy="838200"/>
          </a:xfrm>
          <a:prstGeom prst="roundRect">
            <a:avLst>
              <a:gd name="adj" fmla="val 18182"/>
            </a:avLst>
          </a:prstGeom>
          <a:solidFill>
            <a:srgbClr val="8C6A4E"/>
          </a:solidFill>
          <a:ln/>
          <a:effectLst>
            <a:outerShdw sx="100000" sy="100000" kx="0" ky="0" algn="bl" rotWithShape="0" blurRad="152400" dist="38100" dir="5400000">
              <a:srgbClr val="001E62">
                <a:alpha val="12000"/>
              </a:srgbClr>
            </a:outerShdw>
          </a:effectLst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84056" y="6119813"/>
            <a:ext cx="361950" cy="3619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632996" y="6872288"/>
            <a:ext cx="74027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6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77038" y="6405563"/>
            <a:ext cx="495300" cy="19050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7665244" y="5881688"/>
            <a:ext cx="838200" cy="838200"/>
          </a:xfrm>
          <a:prstGeom prst="roundRect">
            <a:avLst>
              <a:gd name="adj" fmla="val 18182"/>
            </a:avLst>
          </a:prstGeom>
          <a:solidFill>
            <a:srgbClr val="9AA4B8"/>
          </a:solidFill>
          <a:ln/>
          <a:effectLst>
            <a:outerShdw sx="100000" sy="100000" kx="0" ky="0" algn="bl" rotWithShape="0" blurRad="152400" dist="38100" dir="5400000">
              <a:srgbClr val="001E62">
                <a:alpha val="12000"/>
              </a:srgbClr>
            </a:outerShdw>
          </a:effectLst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03369" y="6119813"/>
            <a:ext cx="361950" cy="36195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7822257" y="6872288"/>
            <a:ext cx="60022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65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96350" y="6405563"/>
            <a:ext cx="495300" cy="190500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9784556" y="5881688"/>
            <a:ext cx="838200" cy="838200"/>
          </a:xfrm>
          <a:prstGeom prst="roundRect">
            <a:avLst>
              <a:gd name="adj" fmla="val 18182"/>
            </a:avLst>
          </a:prstGeom>
          <a:solidFill>
            <a:srgbClr val="FFD200"/>
          </a:solidFill>
          <a:ln/>
          <a:effectLst>
            <a:outerShdw sx="100000" sy="100000" kx="0" ky="0" algn="bl" rotWithShape="0" blurRad="152400" dist="38100" dir="5400000">
              <a:srgbClr val="001E62">
                <a:alpha val="12000"/>
              </a:srgbClr>
            </a:outerShdw>
          </a:effectLst>
        </p:spPr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022681" y="6119813"/>
            <a:ext cx="361950" cy="36195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9982200" y="6872288"/>
            <a:ext cx="5189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65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015663" y="6405563"/>
            <a:ext cx="495300" cy="190500"/>
          </a:xfrm>
          <a:prstGeom prst="rect">
            <a:avLst/>
          </a:prstGeom>
        </p:spPr>
      </p:pic>
      <p:sp>
        <p:nvSpPr>
          <p:cNvPr id="25" name="Shape 13"/>
          <p:cNvSpPr/>
          <p:nvPr/>
        </p:nvSpPr>
        <p:spPr>
          <a:xfrm>
            <a:off x="11903869" y="5881688"/>
            <a:ext cx="838200" cy="838200"/>
          </a:xfrm>
          <a:prstGeom prst="roundRect">
            <a:avLst>
              <a:gd name="adj" fmla="val 18182"/>
            </a:avLst>
          </a:prstGeom>
          <a:solidFill>
            <a:srgbClr val="001E62"/>
          </a:solidFill>
          <a:ln/>
          <a:effectLst>
            <a:outerShdw sx="100000" sy="100000" kx="0" ky="0" algn="bl" rotWithShape="0" blurRad="152400" dist="38100" dir="5400000">
              <a:srgbClr val="001E62">
                <a:alpha val="12000"/>
              </a:srgbClr>
            </a:outerShdw>
          </a:effectLst>
        </p:spPr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2141994" y="6119813"/>
            <a:ext cx="361950" cy="361950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11955959" y="6872288"/>
            <a:ext cx="8102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Parquet</a:t>
            </a:r>
            <a:endParaRPr lang="en-US" sz="1650" dirty="0"/>
          </a:p>
        </p:txBody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3134975" y="6405563"/>
            <a:ext cx="495300" cy="190500"/>
          </a:xfrm>
          <a:prstGeom prst="rect">
            <a:avLst/>
          </a:prstGeom>
        </p:spPr>
      </p:pic>
      <p:sp>
        <p:nvSpPr>
          <p:cNvPr id="29" name="Shape 15"/>
          <p:cNvSpPr/>
          <p:nvPr/>
        </p:nvSpPr>
        <p:spPr>
          <a:xfrm>
            <a:off x="14023181" y="5881688"/>
            <a:ext cx="838200" cy="838200"/>
          </a:xfrm>
          <a:prstGeom prst="roundRect">
            <a:avLst>
              <a:gd name="adj" fmla="val 18182"/>
            </a:avLst>
          </a:prstGeom>
          <a:solidFill>
            <a:srgbClr val="5B6478"/>
          </a:solidFill>
          <a:ln/>
          <a:effectLst>
            <a:outerShdw sx="100000" sy="100000" kx="0" ky="0" algn="bl" rotWithShape="0" blurRad="152400" dist="38100" dir="5400000">
              <a:srgbClr val="001E62">
                <a:alpha val="12000"/>
              </a:srgbClr>
            </a:outerShdw>
          </a:effectLst>
        </p:spPr>
      </p:sp>
      <p:pic>
        <p:nvPicPr>
          <p:cNvPr id="30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4261306" y="6119813"/>
            <a:ext cx="361950" cy="361950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14098637" y="6872288"/>
            <a:ext cx="7634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Jupyter</a:t>
            </a:r>
            <a:endParaRPr lang="en-US" sz="1650" dirty="0"/>
          </a:p>
        </p:txBody>
      </p:sp>
      <p:pic>
        <p:nvPicPr>
          <p:cNvPr id="32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5254288" y="6405563"/>
            <a:ext cx="495300" cy="190500"/>
          </a:xfrm>
          <a:prstGeom prst="rect">
            <a:avLst/>
          </a:prstGeom>
        </p:spPr>
      </p:pic>
      <p:sp>
        <p:nvSpPr>
          <p:cNvPr id="33" name="Shape 17"/>
          <p:cNvSpPr/>
          <p:nvPr/>
        </p:nvSpPr>
        <p:spPr>
          <a:xfrm>
            <a:off x="16142494" y="5881688"/>
            <a:ext cx="838200" cy="838200"/>
          </a:xfrm>
          <a:prstGeom prst="roundRect">
            <a:avLst>
              <a:gd name="adj" fmla="val 18182"/>
            </a:avLst>
          </a:prstGeom>
          <a:gradFill rotWithShape="1">
            <a:gsLst>
              <a:gs pos="0">
                <a:srgbClr val="001E62">
                  <a:alpha val="100000"/>
                </a:srgbClr>
              </a:gs>
              <a:gs pos="100000">
                <a:srgbClr val="00C2F5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152400" dist="38100" dir="5400000">
              <a:srgbClr val="001E62">
                <a:alpha val="12000"/>
              </a:srgbClr>
            </a:outerShdw>
          </a:effectLst>
        </p:spPr>
      </p:sp>
      <p:pic>
        <p:nvPicPr>
          <p:cNvPr id="34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6380619" y="6119813"/>
            <a:ext cx="361950" cy="361950"/>
          </a:xfrm>
          <a:prstGeom prst="rect">
            <a:avLst/>
          </a:prstGeom>
        </p:spPr>
      </p:pic>
      <p:sp>
        <p:nvSpPr>
          <p:cNvPr id="35" name="Text 18"/>
          <p:cNvSpPr/>
          <p:nvPr/>
        </p:nvSpPr>
        <p:spPr>
          <a:xfrm>
            <a:off x="16200388" y="6872288"/>
            <a:ext cx="7984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65" kern="0" dirty="0">
                <a:solidFill>
                  <a:srgbClr val="00A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 DEL BOOTCAMP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047750"/>
            <a:ext cx="180213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días, un proyecto que avanza por etapas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52500" y="2143125"/>
            <a:ext cx="16383000" cy="19050"/>
          </a:xfrm>
          <a:prstGeom prst="rect">
            <a:avLst/>
          </a:prstGeom>
          <a:solidFill>
            <a:srgbClr val="001E62"/>
          </a:solidFill>
          <a:ln/>
        </p:spPr>
      </p:sp>
      <p:sp>
        <p:nvSpPr>
          <p:cNvPr id="5" name="Text 3"/>
          <p:cNvSpPr/>
          <p:nvPr/>
        </p:nvSpPr>
        <p:spPr>
          <a:xfrm>
            <a:off x="4829175" y="1800225"/>
            <a:ext cx="27241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1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305675" y="1800225"/>
            <a:ext cx="27241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1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2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782175" y="1800225"/>
            <a:ext cx="27241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1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3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2258675" y="1800225"/>
            <a:ext cx="27241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1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4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4735175" y="1800225"/>
            <a:ext cx="27241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1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5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52500" y="2514600"/>
            <a:ext cx="16383000" cy="9525"/>
          </a:xfrm>
          <a:prstGeom prst="rect">
            <a:avLst/>
          </a:prstGeom>
          <a:solidFill>
            <a:srgbClr val="E5E9F2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2195513"/>
            <a:ext cx="44005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A3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Preparación del ambiente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953000" y="2233613"/>
            <a:ext cx="2476500" cy="209550"/>
          </a:xfrm>
          <a:prstGeom prst="roundRect">
            <a:avLst>
              <a:gd name="adj" fmla="val 50000"/>
            </a:avLst>
          </a:prstGeom>
          <a:solidFill>
            <a:srgbClr val="001E62"/>
          </a:solidFill>
          <a:ln/>
        </p:spPr>
      </p:sp>
      <p:sp>
        <p:nvSpPr>
          <p:cNvPr id="13" name="Shape 11"/>
          <p:cNvSpPr/>
          <p:nvPr/>
        </p:nvSpPr>
        <p:spPr>
          <a:xfrm>
            <a:off x="952500" y="2876550"/>
            <a:ext cx="16383000" cy="9525"/>
          </a:xfrm>
          <a:prstGeom prst="rect">
            <a:avLst/>
          </a:prstGeom>
          <a:solidFill>
            <a:srgbClr val="E5E9F2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" y="2557463"/>
            <a:ext cx="44005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A3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de herramientas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53000" y="2595563"/>
            <a:ext cx="2476500" cy="209550"/>
          </a:xfrm>
          <a:prstGeom prst="roundRect">
            <a:avLst>
              <a:gd name="adj" fmla="val 50000"/>
            </a:avLst>
          </a:prstGeom>
          <a:solidFill>
            <a:srgbClr val="001E62"/>
          </a:solidFill>
          <a:ln/>
        </p:spPr>
      </p:sp>
      <p:sp>
        <p:nvSpPr>
          <p:cNvPr id="16" name="Shape 14"/>
          <p:cNvSpPr/>
          <p:nvPr/>
        </p:nvSpPr>
        <p:spPr>
          <a:xfrm>
            <a:off x="952500" y="3238500"/>
            <a:ext cx="16383000" cy="9525"/>
          </a:xfrm>
          <a:prstGeom prst="rect">
            <a:avLst/>
          </a:prstGeom>
          <a:solidFill>
            <a:srgbClr val="E5E9F2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2919413"/>
            <a:ext cx="44005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A3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Ingesta de datos (CSV)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953000" y="2957513"/>
            <a:ext cx="2476500" cy="209550"/>
          </a:xfrm>
          <a:prstGeom prst="roundRect">
            <a:avLst>
              <a:gd name="adj" fmla="val 50000"/>
            </a:avLst>
          </a:prstGeom>
          <a:solidFill>
            <a:srgbClr val="001E62"/>
          </a:solidFill>
          <a:ln/>
        </p:spPr>
      </p:sp>
      <p:sp>
        <p:nvSpPr>
          <p:cNvPr id="19" name="Shape 17"/>
          <p:cNvSpPr/>
          <p:nvPr/>
        </p:nvSpPr>
        <p:spPr>
          <a:xfrm>
            <a:off x="952500" y="3600450"/>
            <a:ext cx="16383000" cy="9525"/>
          </a:xfrm>
          <a:prstGeom prst="rect">
            <a:avLst/>
          </a:prstGeom>
          <a:solidFill>
            <a:srgbClr val="E5E9F2"/>
          </a:solidFill>
          <a:ln/>
        </p:spPr>
      </p:sp>
      <p:sp>
        <p:nvSpPr>
          <p:cNvPr id="20" name="Text 18"/>
          <p:cNvSpPr/>
          <p:nvPr/>
        </p:nvSpPr>
        <p:spPr>
          <a:xfrm>
            <a:off x="952500" y="3281363"/>
            <a:ext cx="44005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A3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y perfilado de datos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429500" y="3319463"/>
            <a:ext cx="2476500" cy="209550"/>
          </a:xfrm>
          <a:prstGeom prst="roundRect">
            <a:avLst>
              <a:gd name="adj" fmla="val 50000"/>
            </a:avLst>
          </a:prstGeom>
          <a:solidFill>
            <a:srgbClr val="00C2F5"/>
          </a:solidFill>
          <a:ln/>
        </p:spPr>
      </p:sp>
      <p:sp>
        <p:nvSpPr>
          <p:cNvPr id="22" name="Shape 20"/>
          <p:cNvSpPr/>
          <p:nvPr/>
        </p:nvSpPr>
        <p:spPr>
          <a:xfrm>
            <a:off x="952500" y="3962400"/>
            <a:ext cx="16383000" cy="9525"/>
          </a:xfrm>
          <a:prstGeom prst="rect">
            <a:avLst/>
          </a:prstGeom>
          <a:solidFill>
            <a:srgbClr val="E5E9F2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3643313"/>
            <a:ext cx="44005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A3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calidad de datos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429500" y="3681413"/>
            <a:ext cx="2476500" cy="209550"/>
          </a:xfrm>
          <a:prstGeom prst="roundRect">
            <a:avLst>
              <a:gd name="adj" fmla="val 50000"/>
            </a:avLst>
          </a:prstGeom>
          <a:solidFill>
            <a:srgbClr val="00C2F5"/>
          </a:solidFill>
          <a:ln/>
        </p:spPr>
      </p:sp>
      <p:sp>
        <p:nvSpPr>
          <p:cNvPr id="25" name="Shape 23"/>
          <p:cNvSpPr/>
          <p:nvPr/>
        </p:nvSpPr>
        <p:spPr>
          <a:xfrm>
            <a:off x="952500" y="4324350"/>
            <a:ext cx="16383000" cy="9525"/>
          </a:xfrm>
          <a:prstGeom prst="rect">
            <a:avLst/>
          </a:prstGeom>
          <a:solidFill>
            <a:srgbClr val="E5E9F2"/>
          </a:solidFill>
          <a:ln/>
        </p:spPr>
      </p:sp>
      <p:sp>
        <p:nvSpPr>
          <p:cNvPr id="26" name="Text 24"/>
          <p:cNvSpPr/>
          <p:nvPr/>
        </p:nvSpPr>
        <p:spPr>
          <a:xfrm>
            <a:off x="952500" y="4005262"/>
            <a:ext cx="44005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A3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Construcción de Bronze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429500" y="4043363"/>
            <a:ext cx="2476500" cy="209550"/>
          </a:xfrm>
          <a:prstGeom prst="roundRect">
            <a:avLst>
              <a:gd name="adj" fmla="val 50000"/>
            </a:avLst>
          </a:prstGeom>
          <a:solidFill>
            <a:srgbClr val="00C2F5"/>
          </a:solidFill>
          <a:ln/>
        </p:spPr>
      </p:sp>
      <p:sp>
        <p:nvSpPr>
          <p:cNvPr id="28" name="Shape 26"/>
          <p:cNvSpPr/>
          <p:nvPr/>
        </p:nvSpPr>
        <p:spPr>
          <a:xfrm>
            <a:off x="952500" y="4686300"/>
            <a:ext cx="16383000" cy="9525"/>
          </a:xfrm>
          <a:prstGeom prst="rect">
            <a:avLst/>
          </a:prstGeom>
          <a:solidFill>
            <a:srgbClr val="E5E9F2"/>
          </a:solidFill>
          <a:ln/>
        </p:spPr>
      </p:sp>
      <p:sp>
        <p:nvSpPr>
          <p:cNvPr id="29" name="Text 27"/>
          <p:cNvSpPr/>
          <p:nvPr/>
        </p:nvSpPr>
        <p:spPr>
          <a:xfrm>
            <a:off x="952500" y="4367213"/>
            <a:ext cx="44005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A3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Construcción de Silver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429500" y="4405313"/>
            <a:ext cx="4953000" cy="2095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C2F5">
                  <a:alpha val="100000"/>
                </a:srgbClr>
              </a:gs>
              <a:gs pos="68000">
                <a:srgbClr val="00C2F5">
                  <a:alpha val="100000"/>
                </a:srgbClr>
              </a:gs>
              <a:gs pos="100000">
                <a:srgbClr val="1F9D55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31" name="Shape 29"/>
          <p:cNvSpPr/>
          <p:nvPr/>
        </p:nvSpPr>
        <p:spPr>
          <a:xfrm>
            <a:off x="952500" y="5048250"/>
            <a:ext cx="16383000" cy="9525"/>
          </a:xfrm>
          <a:prstGeom prst="rect">
            <a:avLst/>
          </a:prstGeom>
          <a:solidFill>
            <a:srgbClr val="E5E9F2"/>
          </a:solidFill>
          <a:ln/>
        </p:spPr>
      </p:sp>
      <p:sp>
        <p:nvSpPr>
          <p:cNvPr id="32" name="Text 30"/>
          <p:cNvSpPr/>
          <p:nvPr/>
        </p:nvSpPr>
        <p:spPr>
          <a:xfrm>
            <a:off x="952500" y="4729163"/>
            <a:ext cx="44005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A3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Modelado Gold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906000" y="4767263"/>
            <a:ext cx="2476500" cy="209550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/>
        </p:spPr>
      </p:sp>
      <p:sp>
        <p:nvSpPr>
          <p:cNvPr id="34" name="Shape 32"/>
          <p:cNvSpPr/>
          <p:nvPr/>
        </p:nvSpPr>
        <p:spPr>
          <a:xfrm>
            <a:off x="952500" y="5410200"/>
            <a:ext cx="16383000" cy="9525"/>
          </a:xfrm>
          <a:prstGeom prst="rect">
            <a:avLst/>
          </a:prstGeom>
          <a:solidFill>
            <a:srgbClr val="E5E9F2"/>
          </a:solidFill>
          <a:ln/>
        </p:spPr>
      </p:sp>
      <p:sp>
        <p:nvSpPr>
          <p:cNvPr id="35" name="Text 33"/>
          <p:cNvSpPr/>
          <p:nvPr/>
        </p:nvSpPr>
        <p:spPr>
          <a:xfrm>
            <a:off x="952500" y="5091113"/>
            <a:ext cx="44005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A3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Transformaciones de negocio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906000" y="5129213"/>
            <a:ext cx="2476500" cy="209550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/>
        </p:spPr>
      </p:sp>
      <p:sp>
        <p:nvSpPr>
          <p:cNvPr id="37" name="Shape 35"/>
          <p:cNvSpPr/>
          <p:nvPr/>
        </p:nvSpPr>
        <p:spPr>
          <a:xfrm>
            <a:off x="952500" y="5772150"/>
            <a:ext cx="16383000" cy="9525"/>
          </a:xfrm>
          <a:prstGeom prst="rect">
            <a:avLst/>
          </a:prstGeom>
          <a:solidFill>
            <a:srgbClr val="E5E9F2"/>
          </a:solidFill>
          <a:ln/>
        </p:spPr>
      </p:sp>
      <p:sp>
        <p:nvSpPr>
          <p:cNvPr id="38" name="Text 36"/>
          <p:cNvSpPr/>
          <p:nvPr/>
        </p:nvSpPr>
        <p:spPr>
          <a:xfrm>
            <a:off x="952500" y="5453063"/>
            <a:ext cx="44005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A3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con Airflow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12382500" y="5491163"/>
            <a:ext cx="2476500" cy="2095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40" name="Shape 38"/>
          <p:cNvSpPr/>
          <p:nvPr/>
        </p:nvSpPr>
        <p:spPr>
          <a:xfrm>
            <a:off x="952500" y="6134100"/>
            <a:ext cx="16383000" cy="9525"/>
          </a:xfrm>
          <a:prstGeom prst="rect">
            <a:avLst/>
          </a:prstGeom>
          <a:solidFill>
            <a:srgbClr val="E5E9F2"/>
          </a:solidFill>
          <a:ln/>
        </p:spPr>
      </p:sp>
      <p:sp>
        <p:nvSpPr>
          <p:cNvPr id="41" name="Text 39"/>
          <p:cNvSpPr/>
          <p:nvPr/>
        </p:nvSpPr>
        <p:spPr>
          <a:xfrm>
            <a:off x="952500" y="5815013"/>
            <a:ext cx="44005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A3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Exportación a Parquet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12382500" y="5853113"/>
            <a:ext cx="2476500" cy="2095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43" name="Shape 41"/>
          <p:cNvSpPr/>
          <p:nvPr/>
        </p:nvSpPr>
        <p:spPr>
          <a:xfrm>
            <a:off x="952500" y="6496050"/>
            <a:ext cx="16383000" cy="9525"/>
          </a:xfrm>
          <a:prstGeom prst="rect">
            <a:avLst/>
          </a:prstGeom>
          <a:solidFill>
            <a:srgbClr val="E5E9F2"/>
          </a:solidFill>
          <a:ln/>
        </p:spPr>
      </p:sp>
      <p:sp>
        <p:nvSpPr>
          <p:cNvPr id="44" name="Text 42"/>
          <p:cNvSpPr/>
          <p:nvPr/>
        </p:nvSpPr>
        <p:spPr>
          <a:xfrm>
            <a:off x="952500" y="6176963"/>
            <a:ext cx="44005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A3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del pipeline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12382500" y="6215063"/>
            <a:ext cx="2476500" cy="2095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46" name="Shape 44"/>
          <p:cNvSpPr/>
          <p:nvPr/>
        </p:nvSpPr>
        <p:spPr>
          <a:xfrm>
            <a:off x="952500" y="6858000"/>
            <a:ext cx="16383000" cy="9525"/>
          </a:xfrm>
          <a:prstGeom prst="rect">
            <a:avLst/>
          </a:prstGeom>
          <a:solidFill>
            <a:srgbClr val="E5E9F2"/>
          </a:solidFill>
          <a:ln/>
        </p:spPr>
      </p:sp>
      <p:sp>
        <p:nvSpPr>
          <p:cNvPr id="47" name="Text 45"/>
          <p:cNvSpPr/>
          <p:nvPr/>
        </p:nvSpPr>
        <p:spPr>
          <a:xfrm>
            <a:off x="952500" y="6538913"/>
            <a:ext cx="44005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A3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de análisis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14859000" y="6577013"/>
            <a:ext cx="2476500" cy="209550"/>
          </a:xfrm>
          <a:prstGeom prst="roundRect">
            <a:avLst>
              <a:gd name="adj" fmla="val 50000"/>
            </a:avLst>
          </a:prstGeom>
          <a:solidFill>
            <a:srgbClr val="5E4B9E"/>
          </a:solidFill>
          <a:ln/>
        </p:spPr>
      </p:sp>
      <p:sp>
        <p:nvSpPr>
          <p:cNvPr id="49" name="Shape 47"/>
          <p:cNvSpPr/>
          <p:nvPr/>
        </p:nvSpPr>
        <p:spPr>
          <a:xfrm>
            <a:off x="952500" y="7219950"/>
            <a:ext cx="16383000" cy="9525"/>
          </a:xfrm>
          <a:prstGeom prst="rect">
            <a:avLst/>
          </a:prstGeom>
          <a:solidFill>
            <a:srgbClr val="E5E9F2"/>
          </a:solidFill>
          <a:ln/>
        </p:spPr>
      </p:sp>
      <p:sp>
        <p:nvSpPr>
          <p:cNvPr id="50" name="Text 48"/>
          <p:cNvSpPr/>
          <p:nvPr/>
        </p:nvSpPr>
        <p:spPr>
          <a:xfrm>
            <a:off x="952500" y="6900863"/>
            <a:ext cx="44005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A3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Generación de insights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14859000" y="6938963"/>
            <a:ext cx="2476500" cy="209550"/>
          </a:xfrm>
          <a:prstGeom prst="roundRect">
            <a:avLst>
              <a:gd name="adj" fmla="val 50000"/>
            </a:avLst>
          </a:prstGeom>
          <a:solidFill>
            <a:srgbClr val="5E4B9E"/>
          </a:solidFill>
          <a:ln/>
        </p:spPr>
      </p:sp>
      <p:sp>
        <p:nvSpPr>
          <p:cNvPr id="52" name="Text 50"/>
          <p:cNvSpPr/>
          <p:nvPr/>
        </p:nvSpPr>
        <p:spPr>
          <a:xfrm>
            <a:off x="952500" y="7267575"/>
            <a:ext cx="44005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A3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ejecutiva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14859000" y="7305675"/>
            <a:ext cx="2476500" cy="209550"/>
          </a:xfrm>
          <a:prstGeom prst="roundRect">
            <a:avLst>
              <a:gd name="adj" fmla="val 50000"/>
            </a:avLst>
          </a:prstGeom>
          <a:solidFill>
            <a:srgbClr val="5E4B9E"/>
          </a:solidFill>
          <a:ln/>
        </p:spPr>
      </p:sp>
      <p:sp>
        <p:nvSpPr>
          <p:cNvPr id="54" name="Shape 52"/>
          <p:cNvSpPr/>
          <p:nvPr/>
        </p:nvSpPr>
        <p:spPr>
          <a:xfrm>
            <a:off x="952500" y="7862888"/>
            <a:ext cx="152400" cy="152400"/>
          </a:xfrm>
          <a:prstGeom prst="ellipse">
            <a:avLst/>
          </a:prstGeom>
          <a:solidFill>
            <a:srgbClr val="001E62"/>
          </a:solidFill>
          <a:ln/>
        </p:spPr>
      </p:sp>
      <p:sp>
        <p:nvSpPr>
          <p:cNvPr id="55" name="Text 53"/>
          <p:cNvSpPr/>
          <p:nvPr/>
        </p:nvSpPr>
        <p:spPr>
          <a:xfrm>
            <a:off x="1200150" y="7800975"/>
            <a:ext cx="118124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Preparación</a:t>
            </a:r>
            <a:endParaRPr lang="en-US" sz="1425" dirty="0"/>
          </a:p>
        </p:txBody>
      </p:sp>
      <p:sp>
        <p:nvSpPr>
          <p:cNvPr id="56" name="Shape 54"/>
          <p:cNvSpPr/>
          <p:nvPr/>
        </p:nvSpPr>
        <p:spPr>
          <a:xfrm>
            <a:off x="2648099" y="7862888"/>
            <a:ext cx="152400" cy="152400"/>
          </a:xfrm>
          <a:prstGeom prst="ellipse">
            <a:avLst/>
          </a:prstGeom>
          <a:solidFill>
            <a:srgbClr val="00C2F5"/>
          </a:solidFill>
          <a:ln/>
        </p:spPr>
      </p:sp>
      <p:sp>
        <p:nvSpPr>
          <p:cNvPr id="57" name="Text 55"/>
          <p:cNvSpPr/>
          <p:nvPr/>
        </p:nvSpPr>
        <p:spPr>
          <a:xfrm>
            <a:off x="2895749" y="7800975"/>
            <a:ext cx="19293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de datos</a:t>
            </a:r>
            <a:endParaRPr lang="en-US" sz="1425" dirty="0"/>
          </a:p>
        </p:txBody>
      </p:sp>
      <p:sp>
        <p:nvSpPr>
          <p:cNvPr id="58" name="Shape 56"/>
          <p:cNvSpPr/>
          <p:nvPr/>
        </p:nvSpPr>
        <p:spPr>
          <a:xfrm>
            <a:off x="4992588" y="7862888"/>
            <a:ext cx="152400" cy="152400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59" name="Text 57"/>
          <p:cNvSpPr/>
          <p:nvPr/>
        </p:nvSpPr>
        <p:spPr>
          <a:xfrm>
            <a:off x="5240238" y="7800975"/>
            <a:ext cx="27647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Modelado y transformación</a:t>
            </a:r>
            <a:endParaRPr lang="en-US" sz="1425" dirty="0"/>
          </a:p>
        </p:txBody>
      </p:sp>
      <p:sp>
        <p:nvSpPr>
          <p:cNvPr id="60" name="Shape 58"/>
          <p:cNvSpPr/>
          <p:nvPr/>
        </p:nvSpPr>
        <p:spPr>
          <a:xfrm>
            <a:off x="8096548" y="7862888"/>
            <a:ext cx="152400" cy="1524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1" name="Text 59"/>
          <p:cNvSpPr/>
          <p:nvPr/>
        </p:nvSpPr>
        <p:spPr>
          <a:xfrm>
            <a:off x="8344198" y="7800975"/>
            <a:ext cx="15722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</a:t>
            </a:r>
            <a:endParaRPr lang="en-US" sz="1425" dirty="0"/>
          </a:p>
        </p:txBody>
      </p:sp>
      <p:sp>
        <p:nvSpPr>
          <p:cNvPr id="62" name="Shape 60"/>
          <p:cNvSpPr/>
          <p:nvPr/>
        </p:nvSpPr>
        <p:spPr>
          <a:xfrm>
            <a:off x="10116443" y="7862888"/>
            <a:ext cx="152400" cy="152400"/>
          </a:xfrm>
          <a:prstGeom prst="ellipse">
            <a:avLst/>
          </a:prstGeom>
          <a:solidFill>
            <a:srgbClr val="5E4B9E"/>
          </a:solidFill>
          <a:ln/>
        </p:spPr>
      </p:sp>
      <p:sp>
        <p:nvSpPr>
          <p:cNvPr id="63" name="Text 61"/>
          <p:cNvSpPr/>
          <p:nvPr/>
        </p:nvSpPr>
        <p:spPr>
          <a:xfrm>
            <a:off x="10364093" y="7800975"/>
            <a:ext cx="240802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Analítica y presentación</a:t>
            </a:r>
            <a:endParaRPr lang="en-US" sz="1425" dirty="0"/>
          </a:p>
        </p:txBody>
      </p:sp>
      <p:sp>
        <p:nvSpPr>
          <p:cNvPr id="64" name="Text 62"/>
          <p:cNvSpPr/>
          <p:nvPr/>
        </p:nvSpPr>
        <p:spPr>
          <a:xfrm>
            <a:off x="706755" y="8305800"/>
            <a:ext cx="1687449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25" i="1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"Cada etapa depende de la anterior, simulando el flujo de trabajo de un proyecto real de Ingeniería de Datos, donde la calidad de los datos y las decisiones técnicas son tan importantes como el resultado final."</a:t>
            </a:r>
            <a:endParaRPr lang="en-US" sz="14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00A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CRITERIOS DE OBSERVACIÓN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09700"/>
            <a:ext cx="1802130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84" kern="0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queremos evaluar?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2562225"/>
            <a:ext cx="3093690" cy="6962775"/>
          </a:xfrm>
          <a:prstGeom prst="roundRect">
            <a:avLst>
              <a:gd name="adj" fmla="val 4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1E62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0150" y="286702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001E6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14450" y="2981325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0150" y="3495675"/>
            <a:ext cx="2858229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25" b="1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Pensamiento analítico</a:t>
            </a:r>
            <a:endParaRPr lang="en-US" sz="1725" dirty="0"/>
          </a:p>
        </p:txBody>
      </p:sp>
      <p:sp>
        <p:nvSpPr>
          <p:cNvPr id="8" name="Text 5"/>
          <p:cNvSpPr/>
          <p:nvPr/>
        </p:nvSpPr>
        <p:spPr>
          <a:xfrm>
            <a:off x="1263968" y="3940969"/>
            <a:ext cx="2610773" cy="1195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26683" indent="-126683">
              <a:lnSpc>
                <a:spcPct val="160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Comprensión del problema</a:t>
            </a:r>
            <a:endParaRPr lang="en-US" sz="1425" dirty="0"/>
          </a:p>
          <a:p>
            <a:pPr algn="l" marL="126683" indent="-126683">
              <a:lnSpc>
                <a:spcPct val="160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Interpretación del negocio</a:t>
            </a:r>
            <a:endParaRPr lang="en-US" sz="1425" dirty="0"/>
          </a:p>
          <a:p>
            <a:pPr algn="l" marL="126683" indent="-126683">
              <a:lnSpc>
                <a:spcPct val="160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 de mejora</a:t>
            </a:r>
            <a:endParaRPr lang="en-US" sz="1425" dirty="0"/>
          </a:p>
        </p:txBody>
      </p:sp>
      <p:sp>
        <p:nvSpPr>
          <p:cNvPr id="9" name="Shape 6"/>
          <p:cNvSpPr/>
          <p:nvPr/>
        </p:nvSpPr>
        <p:spPr>
          <a:xfrm>
            <a:off x="4274790" y="2562225"/>
            <a:ext cx="3093690" cy="6962775"/>
          </a:xfrm>
          <a:prstGeom prst="roundRect">
            <a:avLst>
              <a:gd name="adj" fmla="val 4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1E62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2440" y="286702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00A4D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6740" y="2981325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2440" y="3495675"/>
            <a:ext cx="2676342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25" b="1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y calidad de datos</a:t>
            </a:r>
            <a:endParaRPr lang="en-US" sz="1725" dirty="0"/>
          </a:p>
        </p:txBody>
      </p:sp>
      <p:sp>
        <p:nvSpPr>
          <p:cNvPr id="13" name="Text 9"/>
          <p:cNvSpPr/>
          <p:nvPr/>
        </p:nvSpPr>
        <p:spPr>
          <a:xfrm>
            <a:off x="4586258" y="4214813"/>
            <a:ext cx="2610773" cy="906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26683" indent="-126683">
              <a:lnSpc>
                <a:spcPct val="160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Perfilado de datos</a:t>
            </a:r>
            <a:endParaRPr lang="en-US" sz="1425" dirty="0"/>
          </a:p>
          <a:p>
            <a:pPr algn="l" marL="126683" indent="-126683">
              <a:lnSpc>
                <a:spcPct val="160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 calidad</a:t>
            </a:r>
            <a:endParaRPr lang="en-US" sz="1425" dirty="0"/>
          </a:p>
          <a:p>
            <a:pPr algn="l" marL="126683" indent="-126683">
              <a:lnSpc>
                <a:spcPct val="160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de limpieza</a:t>
            </a:r>
            <a:endParaRPr lang="en-US" sz="1425" dirty="0"/>
          </a:p>
        </p:txBody>
      </p:sp>
      <p:sp>
        <p:nvSpPr>
          <p:cNvPr id="14" name="Shape 10"/>
          <p:cNvSpPr/>
          <p:nvPr/>
        </p:nvSpPr>
        <p:spPr>
          <a:xfrm>
            <a:off x="7597080" y="2562225"/>
            <a:ext cx="3093690" cy="6962775"/>
          </a:xfrm>
          <a:prstGeom prst="roundRect">
            <a:avLst>
              <a:gd name="adj" fmla="val 4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1E62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844730" y="286702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F9D5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59030" y="2981325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844730" y="3495675"/>
            <a:ext cx="2858229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25" b="1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de datos</a:t>
            </a:r>
            <a:endParaRPr lang="en-US" sz="1725" dirty="0"/>
          </a:p>
        </p:txBody>
      </p:sp>
      <p:sp>
        <p:nvSpPr>
          <p:cNvPr id="18" name="Text 13"/>
          <p:cNvSpPr/>
          <p:nvPr/>
        </p:nvSpPr>
        <p:spPr>
          <a:xfrm>
            <a:off x="7908548" y="3940969"/>
            <a:ext cx="2610773" cy="906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26683" indent="-126683">
              <a:lnSpc>
                <a:spcPct val="160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del pipeline</a:t>
            </a:r>
            <a:endParaRPr lang="en-US" sz="1425" dirty="0"/>
          </a:p>
          <a:p>
            <a:pPr algn="l" marL="126683" indent="-126683">
              <a:lnSpc>
                <a:spcPct val="160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Modelado por capas</a:t>
            </a:r>
            <a:endParaRPr lang="en-US" sz="1425" dirty="0"/>
          </a:p>
          <a:p>
            <a:pPr algn="l" marL="126683" indent="-126683">
              <a:lnSpc>
                <a:spcPct val="160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</a:t>
            </a:r>
            <a:endParaRPr lang="en-US" sz="1425" dirty="0"/>
          </a:p>
        </p:txBody>
      </p:sp>
      <p:sp>
        <p:nvSpPr>
          <p:cNvPr id="19" name="Shape 14"/>
          <p:cNvSpPr/>
          <p:nvPr/>
        </p:nvSpPr>
        <p:spPr>
          <a:xfrm>
            <a:off x="10919371" y="2562225"/>
            <a:ext cx="3093690" cy="6962775"/>
          </a:xfrm>
          <a:prstGeom prst="roundRect">
            <a:avLst>
              <a:gd name="adj" fmla="val 4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1E62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1167021" y="286702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81321" y="2981325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167021" y="3495675"/>
            <a:ext cx="2858229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25" b="1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Buenas prácticas</a:t>
            </a:r>
            <a:endParaRPr lang="en-US" sz="1725" dirty="0"/>
          </a:p>
        </p:txBody>
      </p:sp>
      <p:sp>
        <p:nvSpPr>
          <p:cNvPr id="23" name="Text 17"/>
          <p:cNvSpPr/>
          <p:nvPr/>
        </p:nvSpPr>
        <p:spPr>
          <a:xfrm>
            <a:off x="11230838" y="3940969"/>
            <a:ext cx="2610773" cy="906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26683" indent="-126683">
              <a:lnSpc>
                <a:spcPct val="160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Organización del código</a:t>
            </a:r>
            <a:endParaRPr lang="en-US" sz="1425" dirty="0"/>
          </a:p>
          <a:p>
            <a:pPr algn="l" marL="126683" indent="-126683">
              <a:lnSpc>
                <a:spcPct val="160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</a:t>
            </a:r>
            <a:endParaRPr lang="en-US" sz="1425" dirty="0"/>
          </a:p>
          <a:p>
            <a:pPr algn="l" marL="126683" indent="-126683">
              <a:lnSpc>
                <a:spcPct val="160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Versionamiento (Git)</a:t>
            </a:r>
            <a:endParaRPr lang="en-US" sz="1425" dirty="0"/>
          </a:p>
        </p:txBody>
      </p:sp>
      <p:sp>
        <p:nvSpPr>
          <p:cNvPr id="24" name="Shape 18"/>
          <p:cNvSpPr/>
          <p:nvPr/>
        </p:nvSpPr>
        <p:spPr>
          <a:xfrm>
            <a:off x="14241661" y="2562225"/>
            <a:ext cx="3093690" cy="6962775"/>
          </a:xfrm>
          <a:prstGeom prst="roundRect">
            <a:avLst>
              <a:gd name="adj" fmla="val 4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1E62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4489311" y="286702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5E4B9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603611" y="2981325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489311" y="3495675"/>
            <a:ext cx="2858229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25" b="1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</a:t>
            </a:r>
            <a:endParaRPr lang="en-US" sz="1725" dirty="0"/>
          </a:p>
        </p:txBody>
      </p:sp>
      <p:sp>
        <p:nvSpPr>
          <p:cNvPr id="28" name="Text 21"/>
          <p:cNvSpPr/>
          <p:nvPr/>
        </p:nvSpPr>
        <p:spPr>
          <a:xfrm>
            <a:off x="14553128" y="3940969"/>
            <a:ext cx="2610773" cy="906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26683" indent="-126683">
              <a:lnSpc>
                <a:spcPct val="160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Explicar decisiones</a:t>
            </a:r>
            <a:endParaRPr lang="en-US" sz="1425" dirty="0"/>
          </a:p>
          <a:p>
            <a:pPr algn="l" marL="126683" indent="-126683">
              <a:lnSpc>
                <a:spcPct val="160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claros</a:t>
            </a:r>
            <a:endParaRPr lang="en-US" sz="1425" dirty="0"/>
          </a:p>
          <a:p>
            <a:pPr algn="l" marL="126683" indent="-126683">
              <a:lnSpc>
                <a:spcPct val="160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Traducir hallazgos</a:t>
            </a:r>
            <a:endParaRPr lang="en-US" sz="14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00A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DEL DESAFÍO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09700"/>
            <a:ext cx="1802130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84" kern="0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Entregables y criterios de evaluación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52500" y="2486025"/>
            <a:ext cx="5867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Entregables</a:t>
            </a:r>
            <a:endParaRPr lang="en-US" sz="1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3062288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33500" y="3009900"/>
            <a:ext cx="181817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A3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 Git</a:t>
            </a:r>
            <a:endParaRPr lang="en-US" sz="1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586163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33500" y="3533775"/>
            <a:ext cx="282221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A3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automatizado</a:t>
            </a:r>
            <a:endParaRPr lang="en-US" sz="1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110038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33500" y="4057650"/>
            <a:ext cx="347672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A3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Bronze, Silver y Gold</a:t>
            </a:r>
            <a:endParaRPr lang="en-US" sz="18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4633913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33500" y="4581525"/>
            <a:ext cx="25075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A3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SQL y Python</a:t>
            </a:r>
            <a:endParaRPr lang="en-US" sz="18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2500" y="5157788"/>
            <a:ext cx="228600" cy="2286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333500" y="5105400"/>
            <a:ext cx="212693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A3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Archivos Parquet</a:t>
            </a:r>
            <a:endParaRPr lang="en-US" sz="18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52500" y="5681663"/>
            <a:ext cx="228600" cy="2286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333500" y="5629275"/>
            <a:ext cx="261577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A3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de análisis</a:t>
            </a:r>
            <a:endParaRPr lang="en-US" sz="18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52500" y="6205538"/>
            <a:ext cx="228600" cy="2286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333500" y="6153150"/>
            <a:ext cx="286068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A3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ejecutiva</a:t>
            </a:r>
            <a:endParaRPr lang="en-US" sz="1800" dirty="0"/>
          </a:p>
        </p:txBody>
      </p:sp>
      <p:sp>
        <p:nvSpPr>
          <p:cNvPr id="19" name="Text 10"/>
          <p:cNvSpPr/>
          <p:nvPr/>
        </p:nvSpPr>
        <p:spPr>
          <a:xfrm>
            <a:off x="6896100" y="2486025"/>
            <a:ext cx="114833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en la evaluación</a:t>
            </a:r>
            <a:endParaRPr lang="en-US" sz="1950" dirty="0"/>
          </a:p>
        </p:txBody>
      </p:sp>
      <p:sp>
        <p:nvSpPr>
          <p:cNvPr id="20" name="Text 11"/>
          <p:cNvSpPr/>
          <p:nvPr/>
        </p:nvSpPr>
        <p:spPr>
          <a:xfrm>
            <a:off x="6896100" y="2971800"/>
            <a:ext cx="43383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2A3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Comprensión del problema y discovery</a:t>
            </a:r>
            <a:endParaRPr lang="en-US" sz="1575" dirty="0"/>
          </a:p>
        </p:txBody>
      </p:sp>
      <p:sp>
        <p:nvSpPr>
          <p:cNvPr id="21" name="Text 12"/>
          <p:cNvSpPr/>
          <p:nvPr/>
        </p:nvSpPr>
        <p:spPr>
          <a:xfrm>
            <a:off x="16935152" y="2971800"/>
            <a:ext cx="47654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01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575" dirty="0"/>
          </a:p>
        </p:txBody>
      </p:sp>
      <p:sp>
        <p:nvSpPr>
          <p:cNvPr id="22" name="Shape 13"/>
          <p:cNvSpPr/>
          <p:nvPr/>
        </p:nvSpPr>
        <p:spPr>
          <a:xfrm>
            <a:off x="6896100" y="3324225"/>
            <a:ext cx="10439400" cy="133350"/>
          </a:xfrm>
          <a:prstGeom prst="roundRect">
            <a:avLst>
              <a:gd name="adj" fmla="val 50000"/>
            </a:avLst>
          </a:prstGeom>
          <a:solidFill>
            <a:srgbClr val="E5E9F2"/>
          </a:solidFill>
          <a:ln/>
        </p:spPr>
      </p:sp>
      <p:sp>
        <p:nvSpPr>
          <p:cNvPr id="23" name="Shape 14"/>
          <p:cNvSpPr/>
          <p:nvPr/>
        </p:nvSpPr>
        <p:spPr>
          <a:xfrm>
            <a:off x="6896100" y="3324225"/>
            <a:ext cx="2609850" cy="133350"/>
          </a:xfrm>
          <a:prstGeom prst="roundRect">
            <a:avLst>
              <a:gd name="adj" fmla="val 50000"/>
            </a:avLst>
          </a:prstGeom>
          <a:solidFill>
            <a:srgbClr val="001E62"/>
          </a:solidFill>
          <a:ln/>
        </p:spPr>
      </p:sp>
      <p:sp>
        <p:nvSpPr>
          <p:cNvPr id="24" name="Text 15"/>
          <p:cNvSpPr/>
          <p:nvPr/>
        </p:nvSpPr>
        <p:spPr>
          <a:xfrm>
            <a:off x="6896100" y="3609975"/>
            <a:ext cx="38837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2A3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y preparación de los datos</a:t>
            </a:r>
            <a:endParaRPr lang="en-US" sz="1575" dirty="0"/>
          </a:p>
        </p:txBody>
      </p:sp>
      <p:sp>
        <p:nvSpPr>
          <p:cNvPr id="25" name="Text 16"/>
          <p:cNvSpPr/>
          <p:nvPr/>
        </p:nvSpPr>
        <p:spPr>
          <a:xfrm>
            <a:off x="16935152" y="3609975"/>
            <a:ext cx="47654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0A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575" dirty="0"/>
          </a:p>
        </p:txBody>
      </p:sp>
      <p:sp>
        <p:nvSpPr>
          <p:cNvPr id="26" name="Shape 17"/>
          <p:cNvSpPr/>
          <p:nvPr/>
        </p:nvSpPr>
        <p:spPr>
          <a:xfrm>
            <a:off x="6896100" y="3962400"/>
            <a:ext cx="10439400" cy="133350"/>
          </a:xfrm>
          <a:prstGeom prst="roundRect">
            <a:avLst>
              <a:gd name="adj" fmla="val 50000"/>
            </a:avLst>
          </a:prstGeom>
          <a:solidFill>
            <a:srgbClr val="E5E9F2"/>
          </a:solidFill>
          <a:ln/>
        </p:spPr>
      </p:sp>
      <p:sp>
        <p:nvSpPr>
          <p:cNvPr id="27" name="Shape 18"/>
          <p:cNvSpPr/>
          <p:nvPr/>
        </p:nvSpPr>
        <p:spPr>
          <a:xfrm>
            <a:off x="6896100" y="3962400"/>
            <a:ext cx="2087761" cy="133350"/>
          </a:xfrm>
          <a:prstGeom prst="roundRect">
            <a:avLst>
              <a:gd name="adj" fmla="val 50000"/>
            </a:avLst>
          </a:prstGeom>
          <a:solidFill>
            <a:srgbClr val="00C2F5"/>
          </a:solidFill>
          <a:ln/>
        </p:spPr>
      </p:sp>
      <p:sp>
        <p:nvSpPr>
          <p:cNvPr id="28" name="Text 19"/>
          <p:cNvSpPr/>
          <p:nvPr/>
        </p:nvSpPr>
        <p:spPr>
          <a:xfrm>
            <a:off x="6896100" y="4248150"/>
            <a:ext cx="414892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2A3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e implementación del pipeline</a:t>
            </a:r>
            <a:endParaRPr lang="en-US" sz="1575" dirty="0"/>
          </a:p>
        </p:txBody>
      </p:sp>
      <p:sp>
        <p:nvSpPr>
          <p:cNvPr id="29" name="Text 20"/>
          <p:cNvSpPr/>
          <p:nvPr/>
        </p:nvSpPr>
        <p:spPr>
          <a:xfrm>
            <a:off x="16935152" y="4248150"/>
            <a:ext cx="47654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F9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575" dirty="0"/>
          </a:p>
        </p:txBody>
      </p:sp>
      <p:sp>
        <p:nvSpPr>
          <p:cNvPr id="30" name="Shape 21"/>
          <p:cNvSpPr/>
          <p:nvPr/>
        </p:nvSpPr>
        <p:spPr>
          <a:xfrm>
            <a:off x="6896100" y="4600575"/>
            <a:ext cx="10439400" cy="133350"/>
          </a:xfrm>
          <a:prstGeom prst="roundRect">
            <a:avLst>
              <a:gd name="adj" fmla="val 50000"/>
            </a:avLst>
          </a:prstGeom>
          <a:solidFill>
            <a:srgbClr val="E5E9F2"/>
          </a:solidFill>
          <a:ln/>
        </p:spPr>
      </p:sp>
      <p:sp>
        <p:nvSpPr>
          <p:cNvPr id="31" name="Shape 22"/>
          <p:cNvSpPr/>
          <p:nvPr/>
        </p:nvSpPr>
        <p:spPr>
          <a:xfrm>
            <a:off x="6896100" y="4600575"/>
            <a:ext cx="2087761" cy="133350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/>
        </p:spPr>
      </p:sp>
      <p:sp>
        <p:nvSpPr>
          <p:cNvPr id="32" name="Text 23"/>
          <p:cNvSpPr/>
          <p:nvPr/>
        </p:nvSpPr>
        <p:spPr>
          <a:xfrm>
            <a:off x="6896100" y="4886325"/>
            <a:ext cx="39128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2A3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y buenas prácticas</a:t>
            </a:r>
            <a:endParaRPr lang="en-US" sz="1575" dirty="0"/>
          </a:p>
        </p:txBody>
      </p:sp>
      <p:sp>
        <p:nvSpPr>
          <p:cNvPr id="33" name="Text 24"/>
          <p:cNvSpPr/>
          <p:nvPr/>
        </p:nvSpPr>
        <p:spPr>
          <a:xfrm>
            <a:off x="16935152" y="4886325"/>
            <a:ext cx="47654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575" dirty="0"/>
          </a:p>
        </p:txBody>
      </p:sp>
      <p:sp>
        <p:nvSpPr>
          <p:cNvPr id="34" name="Shape 25"/>
          <p:cNvSpPr/>
          <p:nvPr/>
        </p:nvSpPr>
        <p:spPr>
          <a:xfrm>
            <a:off x="6896100" y="5238750"/>
            <a:ext cx="10439400" cy="133350"/>
          </a:xfrm>
          <a:prstGeom prst="roundRect">
            <a:avLst>
              <a:gd name="adj" fmla="val 50000"/>
            </a:avLst>
          </a:prstGeom>
          <a:solidFill>
            <a:srgbClr val="E5E9F2"/>
          </a:solidFill>
          <a:ln/>
        </p:spPr>
      </p:sp>
      <p:sp>
        <p:nvSpPr>
          <p:cNvPr id="35" name="Shape 26"/>
          <p:cNvSpPr/>
          <p:nvPr/>
        </p:nvSpPr>
        <p:spPr>
          <a:xfrm>
            <a:off x="6896100" y="5238750"/>
            <a:ext cx="1565821" cy="1333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36" name="Text 27"/>
          <p:cNvSpPr/>
          <p:nvPr/>
        </p:nvSpPr>
        <p:spPr>
          <a:xfrm>
            <a:off x="6896100" y="5524500"/>
            <a:ext cx="32303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2A3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e insights de negocio</a:t>
            </a:r>
            <a:endParaRPr lang="en-US" sz="1575" dirty="0"/>
          </a:p>
        </p:txBody>
      </p:sp>
      <p:sp>
        <p:nvSpPr>
          <p:cNvPr id="37" name="Text 28"/>
          <p:cNvSpPr/>
          <p:nvPr/>
        </p:nvSpPr>
        <p:spPr>
          <a:xfrm>
            <a:off x="16935152" y="5524500"/>
            <a:ext cx="47654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5E4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75" dirty="0"/>
          </a:p>
        </p:txBody>
      </p:sp>
      <p:sp>
        <p:nvSpPr>
          <p:cNvPr id="38" name="Shape 29"/>
          <p:cNvSpPr/>
          <p:nvPr/>
        </p:nvSpPr>
        <p:spPr>
          <a:xfrm>
            <a:off x="6896100" y="5876925"/>
            <a:ext cx="10439400" cy="133350"/>
          </a:xfrm>
          <a:prstGeom prst="roundRect">
            <a:avLst>
              <a:gd name="adj" fmla="val 50000"/>
            </a:avLst>
          </a:prstGeom>
          <a:solidFill>
            <a:srgbClr val="E5E9F2"/>
          </a:solidFill>
          <a:ln/>
        </p:spPr>
      </p:sp>
      <p:sp>
        <p:nvSpPr>
          <p:cNvPr id="39" name="Shape 30"/>
          <p:cNvSpPr/>
          <p:nvPr/>
        </p:nvSpPr>
        <p:spPr>
          <a:xfrm>
            <a:off x="6896100" y="5876925"/>
            <a:ext cx="1043880" cy="133350"/>
          </a:xfrm>
          <a:prstGeom prst="roundRect">
            <a:avLst>
              <a:gd name="adj" fmla="val 50000"/>
            </a:avLst>
          </a:prstGeom>
          <a:solidFill>
            <a:srgbClr val="5E4B9E"/>
          </a:solidFill>
          <a:ln/>
        </p:spPr>
      </p:sp>
      <p:sp>
        <p:nvSpPr>
          <p:cNvPr id="40" name="Text 31"/>
          <p:cNvSpPr/>
          <p:nvPr/>
        </p:nvSpPr>
        <p:spPr>
          <a:xfrm>
            <a:off x="6896100" y="6162675"/>
            <a:ext cx="326586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2A3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y comunicación</a:t>
            </a:r>
            <a:endParaRPr lang="en-US" sz="1575" dirty="0"/>
          </a:p>
        </p:txBody>
      </p:sp>
      <p:sp>
        <p:nvSpPr>
          <p:cNvPr id="41" name="Text 32"/>
          <p:cNvSpPr/>
          <p:nvPr/>
        </p:nvSpPr>
        <p:spPr>
          <a:xfrm>
            <a:off x="16935152" y="6162675"/>
            <a:ext cx="47654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8C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75" dirty="0"/>
          </a:p>
        </p:txBody>
      </p:sp>
      <p:sp>
        <p:nvSpPr>
          <p:cNvPr id="42" name="Shape 33"/>
          <p:cNvSpPr/>
          <p:nvPr/>
        </p:nvSpPr>
        <p:spPr>
          <a:xfrm>
            <a:off x="6896100" y="6515100"/>
            <a:ext cx="10439400" cy="133350"/>
          </a:xfrm>
          <a:prstGeom prst="roundRect">
            <a:avLst>
              <a:gd name="adj" fmla="val 50000"/>
            </a:avLst>
          </a:prstGeom>
          <a:solidFill>
            <a:srgbClr val="E5E9F2"/>
          </a:solidFill>
          <a:ln/>
        </p:spPr>
      </p:sp>
      <p:sp>
        <p:nvSpPr>
          <p:cNvPr id="43" name="Shape 34"/>
          <p:cNvSpPr/>
          <p:nvPr/>
        </p:nvSpPr>
        <p:spPr>
          <a:xfrm>
            <a:off x="6896100" y="6515100"/>
            <a:ext cx="1043880" cy="133350"/>
          </a:xfrm>
          <a:prstGeom prst="roundRect">
            <a:avLst>
              <a:gd name="adj" fmla="val 50000"/>
            </a:avLst>
          </a:prstGeom>
          <a:solidFill>
            <a:srgbClr val="8C6A4E"/>
          </a:solidFill>
          <a:ln/>
        </p:spPr>
      </p:sp>
      <p:sp>
        <p:nvSpPr>
          <p:cNvPr id="44" name="Text 35"/>
          <p:cNvSpPr/>
          <p:nvPr/>
        </p:nvSpPr>
        <p:spPr>
          <a:xfrm>
            <a:off x="6896100" y="6915150"/>
            <a:ext cx="1148334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i="1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evaluación considera tanto el resultado final como el proceso seguido para llegar a la solución.</a:t>
            </a:r>
            <a:endParaRPr lang="en-US" sz="14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1E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05000" y="-2476500"/>
            <a:ext cx="8572500" cy="8572500"/>
          </a:xfrm>
          <a:prstGeom prst="ellipse">
            <a:avLst/>
          </a:prstGeom>
          <a:gradFill rotWithShape="1">
            <a:gsLst>
              <a:gs pos="0">
                <a:srgbClr val="00C2F5">
                  <a:alpha val="30000"/>
                </a:srgbClr>
              </a:gs>
              <a:gs pos="70000">
                <a:srgbClr val="00C2F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3335000" y="6477000"/>
            <a:ext cx="6667500" cy="6667500"/>
          </a:xfrm>
          <a:prstGeom prst="ellipse">
            <a:avLst/>
          </a:prstGeom>
          <a:gradFill rotWithShape="1">
            <a:gsLst>
              <a:gs pos="0">
                <a:srgbClr val="FFD200">
                  <a:alpha val="14000"/>
                </a:srgbClr>
              </a:gs>
              <a:gs pos="70000">
                <a:srgbClr val="FFD2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15400" y="2418606"/>
            <a:ext cx="457200" cy="3429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76475" y="3104406"/>
            <a:ext cx="13735050" cy="25788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 proyecto de datos, la tecnología es importante, pero el verdadero valor está en la capacidad de comprender los datos, formular las preguntas correctas y construir soluciones que generen impacto para el negocio.</a:t>
            </a:r>
            <a:endParaRPr lang="en-US" sz="3450" dirty="0"/>
          </a:p>
        </p:txBody>
      </p:sp>
      <p:sp>
        <p:nvSpPr>
          <p:cNvPr id="6" name="Shape 3"/>
          <p:cNvSpPr/>
          <p:nvPr/>
        </p:nvSpPr>
        <p:spPr>
          <a:xfrm>
            <a:off x="8763000" y="6102400"/>
            <a:ext cx="762000" cy="28575"/>
          </a:xfrm>
          <a:prstGeom prst="rect">
            <a:avLst/>
          </a:prstGeom>
          <a:solidFill>
            <a:srgbClr val="FFD200"/>
          </a:solidFill>
          <a:ln/>
        </p:spPr>
      </p:sp>
      <p:sp>
        <p:nvSpPr>
          <p:cNvPr id="7" name="Text 4"/>
          <p:cNvSpPr/>
          <p:nvPr/>
        </p:nvSpPr>
        <p:spPr>
          <a:xfrm>
            <a:off x="3257550" y="6588175"/>
            <a:ext cx="11772900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210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desafío busca identificar ingenieros de datos capaces de transformar datos en decisiones, combinando pensamiento analítico, criterio técnico y buenas prácticas de ingeniería.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2026-07-09T12:30:25Z</dcterms:created>
  <dcterms:modified xsi:type="dcterms:W3CDTF">2026-07-09T12:30:25Z</dcterms:modified>
</cp:coreProperties>
</file>